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>
        <p:scale>
          <a:sx n="119" d="100"/>
          <a:sy n="119" d="100"/>
        </p:scale>
        <p:origin x="504" y="2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502920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lang="en-US" sz="1200" b="1" dirty="0" err="1">
                <a:solidFill>
                  <a:srgbClr val="101010"/>
                </a:solidFill>
                <a:latin typeface="Arial"/>
              </a:rPr>
              <a:t>DropOuts</a:t>
            </a:r>
            <a:r>
              <a:rPr sz="1200" b="1" dirty="0">
                <a:solidFill>
                  <a:srgbClr val="101010"/>
                </a:solidFill>
                <a:latin typeface="Arial"/>
              </a:rPr>
              <a:t> '26  -  NURIS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0972800" cy="182880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5000" b="1">
                <a:solidFill>
                  <a:srgbClr val="101010"/>
                </a:solidFill>
                <a:latin typeface="Arial"/>
              </a:rPr>
              <a:t>RGB-снимки со спутника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86000"/>
            <a:ext cx="10972800" cy="128016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5000" b="1">
                <a:solidFill>
                  <a:srgbClr val="101010"/>
                </a:solidFill>
                <a:latin typeface="Arial"/>
              </a:rPr>
              <a:t>в векторные ГИС-объекты.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49039"/>
            <a:ext cx="10972800" cy="7315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700" b="0">
                <a:solidFill>
                  <a:srgbClr val="101010"/>
                </a:solidFill>
                <a:latin typeface="Arial"/>
              </a:rPr>
              <a:t>Воспроизводимый прототип: GeoTIFF -&gt; плиточная классификация -&gt; полигоны / линии / точки -&gt; GeoJSON + GeoPackage.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3474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102352"/>
            <a:ext cx="338328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200" b="1">
                <a:solidFill>
                  <a:srgbClr val="101010"/>
                </a:solidFill>
                <a:latin typeface="Arial"/>
              </a:rPr>
              <a:t>2 демо-города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05272"/>
            <a:ext cx="3383280" cy="53949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Алматы и Астана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Только RGB, без NIR и разметки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4937760"/>
            <a:ext cx="3474720" cy="137160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400" y="5102352"/>
            <a:ext cx="338328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200" b="1">
                <a:solidFill>
                  <a:srgbClr val="101010"/>
                </a:solidFill>
                <a:latin typeface="Arial"/>
              </a:rPr>
              <a:t>1 932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605272"/>
            <a:ext cx="3383280" cy="53949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6 тематических классов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Валидные геометрии (RFC 7946)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93776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5102352"/>
            <a:ext cx="352044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200" b="1">
                <a:solidFill>
                  <a:srgbClr val="101010"/>
                </a:solidFill>
                <a:latin typeface="Arial"/>
              </a:rPr>
              <a:t>Статистика по AOI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5605272"/>
            <a:ext cx="3520440" cy="53949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Кол-во, площадь, длина, плотность / км^2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lang="en-US" sz="900" b="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b="0" dirty="0">
                <a:solidFill>
                  <a:srgbClr val="808080"/>
                </a:solidFill>
                <a:latin typeface="Arial"/>
              </a:rPr>
              <a:t> ‘26 - NURIS</a:t>
            </a:r>
            <a:endParaRPr sz="900" b="0" dirty="0">
              <a:solidFill>
                <a:srgbClr val="80808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ЧТО ПОСТРОЕНО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02 /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0972800" cy="1645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3000" b="1">
                <a:solidFill>
                  <a:srgbClr val="101010"/>
                </a:solidFill>
                <a:latin typeface="Arial"/>
              </a:rPr>
              <a:t>Сквозной пайплайн: получает RGB GeoTIFF и выдаёт валидные ГИС-объекты.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04088" y="3090672"/>
            <a:ext cx="502920" cy="164592"/>
          </a:xfrm>
          <a:prstGeom prst="roundRect">
            <a:avLst>
              <a:gd name="adj" fmla="val 50000"/>
            </a:avLst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346704"/>
            <a:ext cx="356616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200" b="1">
                <a:solidFill>
                  <a:srgbClr val="101010"/>
                </a:solidFill>
                <a:latin typeface="Arial"/>
              </a:rPr>
              <a:t>На вход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9624"/>
            <a:ext cx="3566160" cy="2295144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- 3-канальный RGB GeoTIFF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Опц. альфа-канал для маски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Исходная СК определяется автоматически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Снимки Алматы и Астаны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43400" y="3090672"/>
            <a:ext cx="356616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200" b="1">
                <a:solidFill>
                  <a:srgbClr val="101010"/>
                </a:solidFill>
                <a:latin typeface="Arial"/>
              </a:rPr>
              <a:t>Пайплайн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593592"/>
            <a:ext cx="3566160" cy="255117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Плитки 2048 px, нахлёст 64 px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Индексы по RGB + текстура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Классификация по правилам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Векторизация + слияние + упрощение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92608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93608" y="3090672"/>
            <a:ext cx="502920" cy="164592"/>
          </a:xfrm>
          <a:prstGeom prst="roundRect">
            <a:avLst>
              <a:gd name="adj" fmla="val 50000"/>
            </a:avLst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0" y="3346704"/>
            <a:ext cx="352044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200" b="1">
                <a:solidFill>
                  <a:srgbClr val="101010"/>
                </a:solidFill>
                <a:latin typeface="Arial"/>
              </a:rPr>
              <a:t>На выходе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49624"/>
            <a:ext cx="3520440" cy="2295144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GeoJSON (RFC 7946, EPSG:4326)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GeoPackage (слои Polygon / Line / Point)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summary.csv по каждому снимку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- PNG-превью с наложением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900" b="0" dirty="0" err="1">
                <a:solidFill>
                  <a:srgbClr val="808080"/>
                </a:solidFill>
                <a:latin typeface="Arial"/>
              </a:rPr>
              <a:t>Прототип</a:t>
            </a:r>
            <a:r>
              <a:rPr sz="900" b="0" dirty="0">
                <a:solidFill>
                  <a:srgbClr val="808080"/>
                </a:solidFill>
                <a:latin typeface="Arial"/>
              </a:rPr>
              <a:t> 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sz="900" b="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АРХИТЕКТУРА ПАЙПЛАЙНА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03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090867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761683" cy="45720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400" b="1">
                <a:solidFill>
                  <a:srgbClr val="808080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1761683" cy="64008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Arial"/>
              </a:rPr>
              <a:t>Плитки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788920"/>
            <a:ext cx="1761683" cy="1097280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iter_windows()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2048 px, нахлёст 64 px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6667" y="1463040"/>
            <a:ext cx="2090867" cy="2560320"/>
          </a:xfrm>
          <a:prstGeom prst="roundRect">
            <a:avLst>
              <a:gd name="adj" fmla="val 8000"/>
            </a:avLst>
          </a:prstGeom>
          <a:solidFill>
            <a:srgbClr val="C8F23E"/>
          </a:solidFill>
          <a:ln w="9525">
            <a:solidFill>
              <a:srgbClr val="C8F23E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1259" y="1627632"/>
            <a:ext cx="1761683" cy="45720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1259" y="2057400"/>
            <a:ext cx="1761683" cy="64008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Arial"/>
              </a:rPr>
              <a:t>Классиф.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259" y="2788920"/>
            <a:ext cx="1761683" cy="1097280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VARI, blue-ratio,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яркость, текстура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50414" y="1463040"/>
            <a:ext cx="2090867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006" y="1627632"/>
            <a:ext cx="1761683" cy="45720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400" b="1">
                <a:solidFill>
                  <a:srgbClr val="808080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5006" y="2057400"/>
            <a:ext cx="1761683" cy="64008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Arial"/>
              </a:rPr>
              <a:t>Вектор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5006" y="2788920"/>
            <a:ext cx="1761683" cy="1097280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растр -&gt; полигоны,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скелет -&gt; линии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24161" y="1463040"/>
            <a:ext cx="2090867" cy="2560320"/>
          </a:xfrm>
          <a:prstGeom prst="roundRect">
            <a:avLst>
              <a:gd name="adj" fmla="val 8000"/>
            </a:avLst>
          </a:prstGeom>
          <a:solidFill>
            <a:srgbClr val="C8F23E"/>
          </a:solidFill>
          <a:ln w="9525">
            <a:solidFill>
              <a:srgbClr val="C8F23E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88753" y="1627632"/>
            <a:ext cx="1761683" cy="45720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753" y="2057400"/>
            <a:ext cx="1761683" cy="64008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Arial"/>
              </a:rPr>
              <a:t>Слияние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753" y="2788920"/>
            <a:ext cx="1761683" cy="1097280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unary_union, дедуп,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упрощение в метрах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97908" y="1463040"/>
            <a:ext cx="2090867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62500" y="1627632"/>
            <a:ext cx="1761683" cy="45720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400" b="1">
                <a:solidFill>
                  <a:srgbClr val="808080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2500" y="2057400"/>
            <a:ext cx="1761683" cy="64008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Arial"/>
              </a:rPr>
              <a:t>Экспорт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2500" y="2788920"/>
            <a:ext cx="1761683" cy="1097280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RFC 7946 GeoJSON,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.gpkg, summary.csv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389120"/>
            <a:ext cx="10972800" cy="1828800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010"/>
                </a:solidFill>
                <a:latin typeface="Arial"/>
              </a:rPr>
              <a:t>Воспроизводится одной командой: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python run.py --inputs &lt;папка&gt; --out outputs/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Геометрии валидируются через shapely.make_valid и ориентацию RHR; координаты округляются до 7 знаков.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r>
              <a:rPr lang="ru-RU" sz="900" dirty="0">
                <a:solidFill>
                  <a:srgbClr val="808080"/>
                </a:solidFill>
                <a:latin typeface="Arial"/>
              </a:rPr>
              <a:t>Прототип 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СХЕМА ВЫХОДНЫХ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04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676656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04088" y="1444752"/>
            <a:ext cx="502920" cy="164592"/>
          </a:xfrm>
          <a:prstGeom prst="roundRect">
            <a:avLst>
              <a:gd name="adj" fmla="val 50000"/>
            </a:avLst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667512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Атрибуты объекта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03704"/>
            <a:ext cx="6675120" cy="4032504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id            уникальный id объекта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class         vegetation | water | built_up | bare_soil | road | building_candidate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confidence    0..100, по покрытию пикселями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source        id исходного снимка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geometry      Polygon | LineString | Point  (EPSG:4326)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area_m2       только полигоны, в локальной UTM-зоне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length_m      только линии, в локальной UTM-зоне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280160"/>
            <a:ext cx="425196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0" y="1444752"/>
            <a:ext cx="416052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800" b="1">
                <a:solidFill>
                  <a:srgbClr val="101010"/>
                </a:solidFill>
                <a:latin typeface="Arial"/>
              </a:rPr>
              <a:t>Файлы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1947672"/>
            <a:ext cx="4160520" cy="159105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&lt;scene&gt;.geojson   RFC 7946, без поля crs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&lt;scene&gt;.gpkg      3 слоя по типу геометрии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summary.csv       статистика по сценам и классам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840480"/>
            <a:ext cx="4251960" cy="256032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4005072"/>
            <a:ext cx="416052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800" b="1">
                <a:solidFill>
                  <a:srgbClr val="101010"/>
                </a:solidFill>
                <a:latin typeface="Arial"/>
              </a:rPr>
              <a:t>Системы координат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4507992"/>
            <a:ext cx="4160520" cy="172821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GeoJSON: EPSG:4326 (RFC 7946)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GeoPackage: то же, СК в заголовке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Площади и длины — в локальной UTM-зоне, автоматически по координатам сцены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r>
              <a:rPr lang="ru-RU" sz="900" dirty="0">
                <a:solidFill>
                  <a:srgbClr val="808080"/>
                </a:solidFill>
                <a:latin typeface="Arial"/>
              </a:rPr>
              <a:t>Прототип 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ДЕМО  -  АСТАНА_7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06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6858000" cy="52120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tana_7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583680" cy="4937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188720"/>
            <a:ext cx="4023360" cy="246888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80" y="1353312"/>
            <a:ext cx="393192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Arial"/>
              </a:rPr>
              <a:t>1 010 объектов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856232"/>
            <a:ext cx="3931920" cy="163677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AOI 0,305 км^2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Площадь больше, чем в Алматы_10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Источник: Astana_7.tif (RGB)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840480"/>
            <a:ext cx="402336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80" y="4005072"/>
            <a:ext cx="393192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800" b="1">
                <a:solidFill>
                  <a:srgbClr val="101010"/>
                </a:solidFill>
                <a:latin typeface="Arial"/>
              </a:rPr>
              <a:t>Кол-во по классам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4507992"/>
            <a:ext cx="3931920" cy="172821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растительность     234    /  54 643 м^2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дорога             224    /   4 101 м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голая земля        199    /  40 167 м^2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застройка          193    /   7 743 м^2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здание-кандидат    135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вода                25    /   2 178 м^2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r>
              <a:rPr lang="ru-RU" sz="900" dirty="0">
                <a:solidFill>
                  <a:srgbClr val="808080"/>
                </a:solidFill>
                <a:latin typeface="Arial"/>
              </a:rPr>
              <a:t>Прототип 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ДЕМО  -  АЛМАТЫ_10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05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6858000" cy="52120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lmaty_10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583680" cy="4937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188720"/>
            <a:ext cx="4023360" cy="246888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80" y="1353312"/>
            <a:ext cx="393192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Arial"/>
              </a:rPr>
              <a:t>922 объекта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856232"/>
            <a:ext cx="3931920" cy="163677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AOI 0,143 км^2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6 классов извлечены вместе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Источник: Almaty_10.tif (RGB)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840480"/>
            <a:ext cx="402336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80" y="4005072"/>
            <a:ext cx="393192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800" b="1">
                <a:solidFill>
                  <a:srgbClr val="101010"/>
                </a:solidFill>
                <a:latin typeface="Arial"/>
              </a:rPr>
              <a:t>Кол-во по классам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4507992"/>
            <a:ext cx="3931920" cy="172821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растительность     217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голая земля        209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дорога             187    /  2 986 м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застройка          141    /  4 821 м^2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здание-кандидат    112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01010"/>
                </a:solidFill>
                <a:latin typeface="Arial"/>
              </a:rPr>
              <a:t>вода                56    /  3 708 м^2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r>
              <a:rPr lang="ru-RU" sz="900" dirty="0">
                <a:solidFill>
                  <a:srgbClr val="808080"/>
                </a:solidFill>
                <a:latin typeface="Arial"/>
              </a:rPr>
              <a:t>Прототип 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СВОДНЫЕ МЕТРИКИ ПО ДВУМ ДЕМО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07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25013" cy="1554480"/>
          </a:xfrm>
          <a:prstGeom prst="roundRect">
            <a:avLst>
              <a:gd name="adj" fmla="val 10000"/>
            </a:avLst>
          </a:prstGeom>
          <a:solidFill>
            <a:srgbClr val="C8F23E"/>
          </a:solidFill>
          <a:ln w="9525">
            <a:solidFill>
              <a:srgbClr val="C8F23E"/>
            </a:solidFill>
          </a:ln>
          <a:effectLst>
            <a:outerShdw blurRad="152400" dist="508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620113"/>
            <a:ext cx="2442133" cy="609398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3000" b="1" dirty="0">
                <a:solidFill>
                  <a:srgbClr val="101010"/>
                </a:solidFill>
                <a:latin typeface="Arial"/>
              </a:rPr>
              <a:t>1932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2442133" cy="36576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  <a:latin typeface="Arial"/>
              </a:rPr>
              <a:t>извлечённых объекта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6533" y="1371600"/>
            <a:ext cx="2625013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52400" dist="508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47973" y="1536192"/>
            <a:ext cx="2442133" cy="77724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3000" b="1">
                <a:solidFill>
                  <a:srgbClr val="10101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973" y="2423160"/>
            <a:ext cx="2442133" cy="36576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  <a:latin typeface="Arial"/>
              </a:rPr>
              <a:t>тематических классов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2625013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52400" dist="508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1587" y="1536192"/>
            <a:ext cx="2442133" cy="77724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3000" b="1">
                <a:solidFill>
                  <a:srgbClr val="101010"/>
                </a:solidFill>
                <a:latin typeface="Arial"/>
              </a:rPr>
              <a:t>0,45 км^2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2423160"/>
            <a:ext cx="2442133" cy="36576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  <a:latin typeface="Arial"/>
              </a:rPr>
              <a:t>покрытие AOI (Алматы + Астана)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3761" y="1371600"/>
            <a:ext cx="2625013" cy="1554480"/>
          </a:xfrm>
          <a:prstGeom prst="roundRect">
            <a:avLst>
              <a:gd name="adj" fmla="val 10000"/>
            </a:avLst>
          </a:prstGeom>
          <a:solidFill>
            <a:srgbClr val="C8F23E"/>
          </a:solidFill>
          <a:ln w="9525">
            <a:solidFill>
              <a:srgbClr val="C8F23E"/>
            </a:solidFill>
          </a:ln>
          <a:effectLst>
            <a:outerShdw blurRad="152400" dist="508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55201" y="1536192"/>
            <a:ext cx="2442133" cy="77724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3000" b="1">
                <a:solidFill>
                  <a:srgbClr val="101010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5201" y="2423160"/>
            <a:ext cx="2442133" cy="36576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  <a:latin typeface="Arial"/>
              </a:rPr>
              <a:t>валидных геометрий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91840"/>
            <a:ext cx="54864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4088" y="3456432"/>
            <a:ext cx="502920" cy="164592"/>
          </a:xfrm>
          <a:prstGeom prst="roundRect">
            <a:avLst>
              <a:gd name="adj" fmla="val 50000"/>
            </a:avLst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712464"/>
            <a:ext cx="539496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800" b="1">
                <a:solidFill>
                  <a:srgbClr val="101010"/>
                </a:solidFill>
                <a:latin typeface="Arial"/>
              </a:rPr>
              <a:t>Суммы по длине и площади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15384"/>
            <a:ext cx="5394960" cy="2020824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Общая длина дорог            7 087 м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Общая площадь застройки     12 565 м^2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Общая площадь раст-ти       68 730 м^2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Общая площадь голой земли   55 773 м^2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Общая площадь воды           5 886 м^2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291840"/>
            <a:ext cx="5532120" cy="310896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3456432"/>
            <a:ext cx="544068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1800" b="1">
                <a:solidFill>
                  <a:srgbClr val="101010"/>
                </a:solidFill>
                <a:latin typeface="Arial"/>
              </a:rPr>
              <a:t>Порог уверенности (confidence)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59352"/>
            <a:ext cx="5440680" cy="227685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растительность  &gt;= 55       вода  &gt;= 60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застройка       &gt;= 55       голая земля  &gt;= 50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дорога          &gt;= 55       здание-кандидат  &gt;= 55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01010"/>
                </a:solidFill>
                <a:latin typeface="Arial"/>
              </a:rPr>
              <a:t>Ниже порога -&gt; объект отбрасывается на этапе слияния.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r>
              <a:rPr lang="ru-RU" sz="900" dirty="0">
                <a:solidFill>
                  <a:srgbClr val="808080"/>
                </a:solidFill>
                <a:latin typeface="Arial"/>
              </a:rPr>
              <a:t>Прототип 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КОНТРОЛЬ КАЧЕСТВА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08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04088" y="1444752"/>
            <a:ext cx="502920" cy="164592"/>
          </a:xfrm>
          <a:prstGeom prst="roundRect">
            <a:avLst>
              <a:gd name="adj" fmla="val 50000"/>
            </a:avLst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539496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Валидность геометрий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03704"/>
            <a:ext cx="5394960" cy="1289304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shapely.make_valid для каждого полигона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Обход RHR через shapely.ops.orient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100% объектов проходят is_valid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80160"/>
            <a:ext cx="5532120" cy="237744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444752"/>
            <a:ext cx="544068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Соответствие стандартам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947672"/>
            <a:ext cx="5440680" cy="154533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GeoJSON: RFC 7946 (без поля crs, EPSG:4326)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Координаты округлены до 7 знаков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GeoPackage: слои по типу геометрии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548640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005072"/>
            <a:ext cx="539496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Привязка к снимку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5394960" cy="172821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Bounding box выходов внутри границ исходного растра.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Перекрытия плиток сливаются через unary_union.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Метрические расчёты — в локальной UTM-зоне.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53212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4005072"/>
            <a:ext cx="544068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Контрольная плитка (Алматы_10)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507992"/>
            <a:ext cx="5440680" cy="172821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растительность  precision ~ 0,86   recall ~ 0,78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застройка       precision ~ 0,74   recall ~ 0,69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вода            precision ~ 0,81   recall ~ 0,70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осевая дороги   IoU @ 2 м ~ 0,55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r>
              <a:rPr lang="ru-RU" sz="900" dirty="0">
                <a:solidFill>
                  <a:srgbClr val="808080"/>
                </a:solidFill>
                <a:latin typeface="Arial"/>
              </a:rPr>
              <a:t>Прототип 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  <a:latin typeface="Arial"/>
              </a:rPr>
              <a:t>ОГРАНИЧЕНИЯ  &amp;  КАК ЗАПУСТИТЬ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86968"/>
            <a:ext cx="594360" cy="54864"/>
          </a:xfrm>
          <a:prstGeom prst="rect">
            <a:avLst/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20095" y="41148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>
                <a:solidFill>
                  <a:srgbClr val="C8F23E"/>
                </a:solidFill>
                <a:latin typeface="Arial"/>
              </a:rPr>
              <a:t>09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539496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Известные 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5394960" cy="428853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- Только RGB; без NIR трудно отделить воду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  от тени под облачностью или плотной кроной.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- Здания-кандидаты используют компактность полигона;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  сросшиеся здания могут слипаться.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- Дороги — эвристика по скелету застройки,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  а не специализированный детектор дорог.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- Confidence — эвристический прокси, не калиброван.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80160"/>
            <a:ext cx="5532120" cy="2560320"/>
          </a:xfrm>
          <a:prstGeom prst="roundRect">
            <a:avLst>
              <a:gd name="adj" fmla="val 6000"/>
            </a:avLst>
          </a:prstGeom>
          <a:solidFill>
            <a:srgbClr val="C8F23E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444752"/>
            <a:ext cx="544068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Запуск двумя командами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47672"/>
            <a:ext cx="5440680" cy="1728216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pip install -r requirements.txt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python run.py --inputs Almaty/ Astana/  --out outputs/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53212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177800" dist="63500" dir="2700000" algn="t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73368" y="4005072"/>
            <a:ext cx="502920" cy="164592"/>
          </a:xfrm>
          <a:prstGeom prst="roundRect">
            <a:avLst>
              <a:gd name="adj" fmla="val 50000"/>
            </a:avLst>
          </a:prstGeom>
          <a:solidFill>
            <a:srgbClr val="C8F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4261104"/>
            <a:ext cx="5440680" cy="502920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pPr algn="l"/>
            <a:r>
              <a:rPr sz="2000" b="1">
                <a:solidFill>
                  <a:srgbClr val="101010"/>
                </a:solidFill>
                <a:latin typeface="Arial"/>
              </a:rPr>
              <a:t>Структура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764024"/>
            <a:ext cx="5440680" cy="1472184"/>
          </a:xfrm>
          <a:prstGeom prst="rect">
            <a:avLst/>
          </a:prstGeom>
          <a:noFill/>
        </p:spPr>
        <p:txBody>
          <a:bodyPr wrap="square" lIns="164592" tIns="128016" rIns="164592" bIns="12801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src/nuris/   tiling, classify, vectorize,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             postprocess, export, stats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run.py       CLI-точка входа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visualize.py рендер PNG-превью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01010"/>
                </a:solidFill>
                <a:latin typeface="Arial"/>
              </a:rPr>
              <a:t>outputs/     .geojson  .gpkg  .png  summary.csv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7315200" cy="286232"/>
          </a:xfrm>
          <a:prstGeom prst="rect">
            <a:avLst/>
          </a:prstGeom>
          <a:noFill/>
        </p:spPr>
        <p:txBody>
          <a:bodyPr wrap="square" lIns="109728" tIns="73152" rIns="109728" bIns="73152" anchor="t">
            <a:spAutoFit/>
          </a:bodyPr>
          <a:lstStyle/>
          <a:p>
            <a:r>
              <a:rPr lang="ru-RU" sz="900" dirty="0">
                <a:solidFill>
                  <a:srgbClr val="808080"/>
                </a:solidFill>
                <a:latin typeface="Arial"/>
              </a:rPr>
              <a:t>Прототип 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NURIS  -  </a:t>
            </a:r>
            <a:r>
              <a:rPr lang="en-US" sz="900" dirty="0" err="1">
                <a:solidFill>
                  <a:srgbClr val="808080"/>
                </a:solidFill>
                <a:latin typeface="Arial"/>
              </a:rPr>
              <a:t>DropOuts</a:t>
            </a:r>
            <a:r>
              <a:rPr lang="en-US" sz="900" dirty="0">
                <a:solidFill>
                  <a:srgbClr val="808080"/>
                </a:solidFill>
                <a:latin typeface="Arial"/>
              </a:rPr>
              <a:t> '26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921</Words>
  <Application>Microsoft Macintosh PowerPoint</Application>
  <PresentationFormat>Widescreen</PresentationFormat>
  <Paragraphs>167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NYUAD</cp:lastModifiedBy>
  <cp:revision>2</cp:revision>
  <dcterms:created xsi:type="dcterms:W3CDTF">2013-01-27T09:14:16Z</dcterms:created>
  <dcterms:modified xsi:type="dcterms:W3CDTF">2026-04-30T09:12:25Z</dcterms:modified>
  <cp:category/>
</cp:coreProperties>
</file>