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2194560" cy="411480"/>
          </a:xfrm>
          <a:prstGeom prst="roundRect">
            <a:avLst>
              <a:gd name="adj" fmla="val 50000"/>
            </a:avLst>
          </a:prstGeom>
          <a:solidFill>
            <a:srgbClr val="C8F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101010"/>
                </a:solidFill>
                <a:latin typeface="Helvetica Neue"/>
              </a:rPr>
              <a:t>HACKNU '26  -  NURIS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0058400" cy="182880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5000" b="1">
                <a:solidFill>
                  <a:srgbClr val="101010"/>
                </a:solidFill>
                <a:latin typeface="Helvetica Neue"/>
              </a:rPr>
              <a:t>RGB satellite imagery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86000"/>
            <a:ext cx="10058400" cy="128016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5000" b="1">
                <a:solidFill>
                  <a:srgbClr val="101010"/>
                </a:solidFill>
                <a:latin typeface="Helvetica Neue"/>
              </a:rPr>
              <a:t>to vector GIS features.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49039"/>
            <a:ext cx="9144000" cy="7315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1700" b="0">
                <a:solidFill>
                  <a:srgbClr val="101010"/>
                </a:solidFill>
                <a:latin typeface="Helvetica Neue"/>
              </a:rPr>
              <a:t>A reproducible prototype: GeoTIFF -&gt; tiled classification -&gt; polygons / lines / points -&gt; GeoJSON + GeoPackage.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937760"/>
            <a:ext cx="3474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blurRad="177800" dist="635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102352"/>
            <a:ext cx="3383280" cy="5029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2200" b="1">
                <a:solidFill>
                  <a:srgbClr val="101010"/>
                </a:solidFill>
                <a:latin typeface="Helvetica Neue"/>
              </a:rPr>
              <a:t>2 demo cities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05272"/>
            <a:ext cx="3383280" cy="539496"/>
          </a:xfrm>
          <a:prstGeom prst="rect">
            <a:avLst/>
          </a:prstGeom>
          <a:noFill/>
        </p:spPr>
        <p:txBody>
          <a:bodyPr wrap="square" lIns="164592" rIns="164592" tIns="128016" bIns="12801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Almaty + Astana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RGB only, no NIR / labels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4937760"/>
            <a:ext cx="3474720" cy="1371600"/>
          </a:xfrm>
          <a:prstGeom prst="roundRect">
            <a:avLst>
              <a:gd name="adj" fmla="val 6000"/>
            </a:avLst>
          </a:prstGeom>
          <a:solidFill>
            <a:srgbClr val="C8F23E"/>
          </a:solidFill>
          <a:ln w="9525">
            <a:solidFill>
              <a:srgbClr val="E5E5E5"/>
            </a:solidFill>
          </a:ln>
          <a:effectLst>
            <a:outerShdw blurRad="177800" dist="635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5102352"/>
            <a:ext cx="3383280" cy="5029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2200" b="1">
                <a:solidFill>
                  <a:srgbClr val="101010"/>
                </a:solidFill>
                <a:latin typeface="Helvetica Neue"/>
              </a:rPr>
              <a:t>1,932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5605272"/>
            <a:ext cx="3383280" cy="539496"/>
          </a:xfrm>
          <a:prstGeom prst="rect">
            <a:avLst/>
          </a:prstGeom>
          <a:noFill/>
        </p:spPr>
        <p:txBody>
          <a:bodyPr wrap="square" lIns="164592" rIns="164592" tIns="128016" bIns="12801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Across 6 thematic classes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Validated geometries (RFC 7946)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493776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blurRad="177800" dist="635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5102352"/>
            <a:ext cx="3520440" cy="5029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2200" b="1">
                <a:solidFill>
                  <a:srgbClr val="101010"/>
                </a:solidFill>
                <a:latin typeface="Helvetica Neue"/>
              </a:rPr>
              <a:t>Per-AOI stats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5605272"/>
            <a:ext cx="3520440" cy="539496"/>
          </a:xfrm>
          <a:prstGeom prst="rect">
            <a:avLst/>
          </a:prstGeom>
          <a:noFill/>
        </p:spPr>
        <p:txBody>
          <a:bodyPr wrap="square" lIns="164592" rIns="164592" tIns="128016" bIns="12801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Counts, area, length, density / km^2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Helvetica Neue"/>
              </a:rPr>
              <a:t>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502920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1010"/>
                </a:solidFill>
                <a:latin typeface="Helvetica Neue"/>
              </a:rPr>
              <a:t>WHAT WE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86968"/>
            <a:ext cx="594360" cy="54864"/>
          </a:xfrm>
          <a:prstGeom prst="rect">
            <a:avLst/>
          </a:prstGeom>
          <a:solidFill>
            <a:srgbClr val="C8F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820095" y="41148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C8F23E"/>
                </a:solidFill>
                <a:latin typeface="Helvetica Neue"/>
              </a:rPr>
              <a:t>02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0972800" cy="16459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3000" b="1">
                <a:solidFill>
                  <a:srgbClr val="101010"/>
                </a:solidFill>
                <a:latin typeface="Helvetica Neue"/>
              </a:rPr>
              <a:t>An end-to-end pipeline that ingests an RGB GeoTIFF and emits validated GIS features.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0"/>
            <a:ext cx="365760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blurRad="177800" dist="635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4088" y="3090672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C8F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346704"/>
            <a:ext cx="3566160" cy="5029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2200" b="1">
                <a:solidFill>
                  <a:srgbClr val="101010"/>
                </a:solidFill>
                <a:latin typeface="Helvetica Neue"/>
              </a:rPr>
              <a:t>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9624"/>
            <a:ext cx="3566160" cy="2295144"/>
          </a:xfrm>
          <a:prstGeom prst="rect">
            <a:avLst/>
          </a:prstGeom>
          <a:noFill/>
        </p:spPr>
        <p:txBody>
          <a:bodyPr wrap="square" lIns="164592" rIns="164592" tIns="128016" bIns="12801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101010"/>
                </a:solidFill>
                <a:latin typeface="Helvetica Neue"/>
              </a:rPr>
              <a:t>- 3-band RGB GeoTIFF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01010"/>
                </a:solidFill>
                <a:latin typeface="Helvetica Neue"/>
              </a:rPr>
              <a:t>- Optional alpha for valid mask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01010"/>
                </a:solidFill>
                <a:latin typeface="Helvetica Neue"/>
              </a:rPr>
              <a:t>- Source CRS auto-detected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01010"/>
                </a:solidFill>
                <a:latin typeface="Helvetica Neue"/>
              </a:rPr>
              <a:t>- Almaty + Astana scenes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926080"/>
            <a:ext cx="3657600" cy="3383280"/>
          </a:xfrm>
          <a:prstGeom prst="roundRect">
            <a:avLst>
              <a:gd name="adj" fmla="val 6000"/>
            </a:avLst>
          </a:prstGeom>
          <a:solidFill>
            <a:srgbClr val="C8F23E"/>
          </a:solidFill>
          <a:ln w="9525">
            <a:solidFill>
              <a:srgbClr val="E5E5E5"/>
            </a:solidFill>
          </a:ln>
          <a:effectLst>
            <a:outerShdw blurRad="177800" dist="635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3090672"/>
            <a:ext cx="3566160" cy="5029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2200" b="1">
                <a:solidFill>
                  <a:srgbClr val="101010"/>
                </a:solidFill>
                <a:latin typeface="Helvetica Neue"/>
              </a:rPr>
              <a:t>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593592"/>
            <a:ext cx="3566160" cy="2551176"/>
          </a:xfrm>
          <a:prstGeom prst="rect">
            <a:avLst/>
          </a:prstGeom>
          <a:noFill/>
        </p:spPr>
        <p:txBody>
          <a:bodyPr wrap="square" lIns="164592" rIns="164592" tIns="128016" bIns="12801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101010"/>
                </a:solidFill>
                <a:latin typeface="Helvetica Neue"/>
              </a:rPr>
              <a:t>- 2048 px tiling, 64 px overlap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01010"/>
                </a:solidFill>
                <a:latin typeface="Helvetica Neue"/>
              </a:rPr>
              <a:t>- RGB indices + texture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01010"/>
                </a:solidFill>
                <a:latin typeface="Helvetica Neue"/>
              </a:rPr>
              <a:t>- Rule-based classification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01010"/>
                </a:solidFill>
                <a:latin typeface="Helvetica Neue"/>
              </a:rPr>
              <a:t>- Vectorize + dissolve + simplify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926080"/>
            <a:ext cx="361188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blurRad="177800" dist="635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93608" y="3090672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C8F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3346704"/>
            <a:ext cx="3520440" cy="5029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2200" b="1">
                <a:solidFill>
                  <a:srgbClr val="101010"/>
                </a:solidFill>
                <a:latin typeface="Helvetica Neue"/>
              </a:rPr>
              <a:t>Outputs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849624"/>
            <a:ext cx="3520440" cy="2295144"/>
          </a:xfrm>
          <a:prstGeom prst="rect">
            <a:avLst/>
          </a:prstGeom>
          <a:noFill/>
        </p:spPr>
        <p:txBody>
          <a:bodyPr wrap="square" lIns="164592" rIns="164592" tIns="128016" bIns="12801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101010"/>
                </a:solidFill>
                <a:latin typeface="Helvetica Neue"/>
              </a:rPr>
              <a:t>- GeoJSON (RFC 7946, EPSG:4326)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01010"/>
                </a:solidFill>
                <a:latin typeface="Helvetica Neue"/>
              </a:rPr>
              <a:t>- GeoPackage (Polygon / Line / Point layers)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01010"/>
                </a:solidFill>
                <a:latin typeface="Helvetica Neue"/>
              </a:rPr>
              <a:t>- summary.csv per scene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01010"/>
                </a:solidFill>
                <a:latin typeface="Helvetica Neue"/>
              </a:rPr>
              <a:t>- Overlay PNG previews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Helvetica Neue"/>
              </a:rPr>
              <a:t>NURIS Prototype  -  HackNU '26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502920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1010"/>
                </a:solidFill>
                <a:latin typeface="Helvetica Neue"/>
              </a:rPr>
              <a:t>PIPELINE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86968"/>
            <a:ext cx="594360" cy="54864"/>
          </a:xfrm>
          <a:prstGeom prst="rect">
            <a:avLst/>
          </a:prstGeom>
          <a:solidFill>
            <a:srgbClr val="C8F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820095" y="41148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C8F23E"/>
                </a:solidFill>
                <a:latin typeface="Helvetica Neue"/>
              </a:rPr>
              <a:t>03 /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2090867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blurRad="177800" dist="635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627632"/>
            <a:ext cx="1761683" cy="45720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1400" b="1">
                <a:solidFill>
                  <a:srgbClr val="808080"/>
                </a:solidFill>
                <a:latin typeface="Helvetica Neu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057400"/>
            <a:ext cx="1761683" cy="64008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2600" b="1">
                <a:solidFill>
                  <a:srgbClr val="101010"/>
                </a:solidFill>
                <a:latin typeface="Helvetica Neue"/>
              </a:rPr>
              <a:t>Tile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788920"/>
            <a:ext cx="1761683" cy="1097280"/>
          </a:xfrm>
          <a:prstGeom prst="rect">
            <a:avLst/>
          </a:prstGeom>
          <a:noFill/>
        </p:spPr>
        <p:txBody>
          <a:bodyPr wrap="square" lIns="164592" rIns="164592" tIns="128016" bIns="12801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01010"/>
                </a:solidFill>
                <a:latin typeface="Helvetica Neue"/>
              </a:rPr>
              <a:t>iter_windows()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010"/>
                </a:solidFill>
                <a:latin typeface="Helvetica Neue"/>
              </a:rPr>
              <a:t>2048 px, 64 px overlap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6667" y="1463040"/>
            <a:ext cx="2090867" cy="2560320"/>
          </a:xfrm>
          <a:prstGeom prst="roundRect">
            <a:avLst>
              <a:gd name="adj" fmla="val 8000"/>
            </a:avLst>
          </a:prstGeom>
          <a:solidFill>
            <a:srgbClr val="C8F23E"/>
          </a:solidFill>
          <a:ln w="9525">
            <a:solidFill>
              <a:srgbClr val="C8F23E"/>
            </a:solidFill>
          </a:ln>
          <a:effectLst>
            <a:outerShdw blurRad="177800" dist="635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1259" y="1627632"/>
            <a:ext cx="1761683" cy="45720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01010"/>
                </a:solidFill>
                <a:latin typeface="Helvetica Neu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1259" y="2057400"/>
            <a:ext cx="1761683" cy="64008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2600" b="1">
                <a:solidFill>
                  <a:srgbClr val="101010"/>
                </a:solidFill>
                <a:latin typeface="Helvetica Neue"/>
              </a:rPr>
              <a:t>Classify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1259" y="2788920"/>
            <a:ext cx="1761683" cy="1097280"/>
          </a:xfrm>
          <a:prstGeom prst="rect">
            <a:avLst/>
          </a:prstGeom>
          <a:noFill/>
        </p:spPr>
        <p:txBody>
          <a:bodyPr wrap="square" lIns="164592" rIns="164592" tIns="128016" bIns="12801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01010"/>
                </a:solidFill>
                <a:latin typeface="Helvetica Neue"/>
              </a:rPr>
              <a:t>VARI, blue-ratio,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010"/>
                </a:solidFill>
                <a:latin typeface="Helvetica Neue"/>
              </a:rPr>
              <a:t>brightness, texture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50414" y="1463040"/>
            <a:ext cx="2090867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blurRad="177800" dist="635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006" y="1627632"/>
            <a:ext cx="1761683" cy="45720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1400" b="1">
                <a:solidFill>
                  <a:srgbClr val="808080"/>
                </a:solidFill>
                <a:latin typeface="Helvetica Neu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5006" y="2057400"/>
            <a:ext cx="1761683" cy="64008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2600" b="1">
                <a:solidFill>
                  <a:srgbClr val="101010"/>
                </a:solidFill>
                <a:latin typeface="Helvetica Neue"/>
              </a:rPr>
              <a:t>Vectorize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5006" y="2788920"/>
            <a:ext cx="1761683" cy="1097280"/>
          </a:xfrm>
          <a:prstGeom prst="rect">
            <a:avLst/>
          </a:prstGeom>
          <a:noFill/>
        </p:spPr>
        <p:txBody>
          <a:bodyPr wrap="square" lIns="164592" rIns="164592" tIns="128016" bIns="12801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01010"/>
                </a:solidFill>
                <a:latin typeface="Helvetica Neue"/>
              </a:rPr>
              <a:t>raster -&gt; polygons,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010"/>
                </a:solidFill>
                <a:latin typeface="Helvetica Neue"/>
              </a:rPr>
              <a:t>skeleton -&gt; lines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24161" y="1463040"/>
            <a:ext cx="2090867" cy="2560320"/>
          </a:xfrm>
          <a:prstGeom prst="roundRect">
            <a:avLst>
              <a:gd name="adj" fmla="val 8000"/>
            </a:avLst>
          </a:prstGeom>
          <a:solidFill>
            <a:srgbClr val="C8F23E"/>
          </a:solidFill>
          <a:ln w="9525">
            <a:solidFill>
              <a:srgbClr val="C8F23E"/>
            </a:solidFill>
          </a:ln>
          <a:effectLst>
            <a:outerShdw blurRad="177800" dist="635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88753" y="1627632"/>
            <a:ext cx="1761683" cy="45720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1400" b="1">
                <a:solidFill>
                  <a:srgbClr val="101010"/>
                </a:solidFill>
                <a:latin typeface="Helvetica Neue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8753" y="2057400"/>
            <a:ext cx="1761683" cy="64008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2600" b="1">
                <a:solidFill>
                  <a:srgbClr val="101010"/>
                </a:solidFill>
                <a:latin typeface="Helvetica Neue"/>
              </a:rPr>
              <a:t>Merge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8753" y="2788920"/>
            <a:ext cx="1761683" cy="1097280"/>
          </a:xfrm>
          <a:prstGeom prst="rect">
            <a:avLst/>
          </a:prstGeom>
          <a:noFill/>
        </p:spPr>
        <p:txBody>
          <a:bodyPr wrap="square" lIns="164592" rIns="164592" tIns="128016" bIns="12801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01010"/>
                </a:solidFill>
                <a:latin typeface="Helvetica Neue"/>
              </a:rPr>
              <a:t>unary_union, dissolve,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010"/>
                </a:solidFill>
                <a:latin typeface="Helvetica Neue"/>
              </a:rPr>
              <a:t>simplify in metric CRS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97908" y="1463040"/>
            <a:ext cx="2090867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blurRad="177800" dist="635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62500" y="1627632"/>
            <a:ext cx="1761683" cy="45720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1400" b="1">
                <a:solidFill>
                  <a:srgbClr val="808080"/>
                </a:solidFill>
                <a:latin typeface="Helvetica Neue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2500" y="2057400"/>
            <a:ext cx="1761683" cy="64008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2600" b="1">
                <a:solidFill>
                  <a:srgbClr val="101010"/>
                </a:solidFill>
                <a:latin typeface="Helvetica Neue"/>
              </a:rPr>
              <a:t>Export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62500" y="2788920"/>
            <a:ext cx="1761683" cy="1097280"/>
          </a:xfrm>
          <a:prstGeom prst="rect">
            <a:avLst/>
          </a:prstGeom>
          <a:noFill/>
        </p:spPr>
        <p:txBody>
          <a:bodyPr wrap="square" lIns="164592" rIns="164592" tIns="128016" bIns="12801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01010"/>
                </a:solidFill>
                <a:latin typeface="Helvetica Neue"/>
              </a:rPr>
              <a:t>RFC 7946 GeoJSON,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010"/>
                </a:solidFill>
                <a:latin typeface="Helvetica Neue"/>
              </a:rPr>
              <a:t>.gpkg, summary.csv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389120"/>
            <a:ext cx="10972800" cy="1828800"/>
          </a:xfrm>
          <a:prstGeom prst="rect">
            <a:avLst/>
          </a:prstGeom>
          <a:noFill/>
        </p:spPr>
        <p:txBody>
          <a:bodyPr wrap="square" lIns="164592" rIns="164592" tIns="128016" bIns="12801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1010"/>
                </a:solidFill>
                <a:latin typeface="Helvetica Neue"/>
              </a:rPr>
              <a:t>Reproducible: single CLI invocation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01010"/>
                </a:solidFill>
                <a:latin typeface="Helvetica Neue"/>
              </a:rPr>
              <a:t>python run.py --inputs &lt;folder&gt; --out outputs/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01010"/>
                </a:solidFill>
                <a:latin typeface="Helvetica Neue"/>
              </a:rPr>
              <a:t>Validated geometries via shapely.make_valid + RHR orientation; coordinates quantized to 7 decimals.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Helvetica Neue"/>
              </a:rPr>
              <a:t>NURIS Prototype  -  HackNU '26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502920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1010"/>
                </a:solidFill>
                <a:latin typeface="Helvetica Neue"/>
              </a:rPr>
              <a:t>OUTPUT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86968"/>
            <a:ext cx="594360" cy="54864"/>
          </a:xfrm>
          <a:prstGeom prst="rect">
            <a:avLst/>
          </a:prstGeom>
          <a:solidFill>
            <a:srgbClr val="C8F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820095" y="41148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C8F23E"/>
                </a:solidFill>
                <a:latin typeface="Helvetica Neue"/>
              </a:rPr>
              <a:t>04 /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676656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blurRad="177800" dist="635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" y="1444752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C8F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6675120" cy="5029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2000" b="1">
                <a:solidFill>
                  <a:srgbClr val="101010"/>
                </a:solidFill>
                <a:latin typeface="Helvetica Neue"/>
              </a:rPr>
              <a:t>Per-feature attributes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03704"/>
            <a:ext cx="6675120" cy="4032504"/>
          </a:xfrm>
          <a:prstGeom prst="rect">
            <a:avLst/>
          </a:prstGeom>
          <a:noFill/>
        </p:spPr>
        <p:txBody>
          <a:bodyPr wrap="square" lIns="164592" rIns="164592" tIns="128016" bIns="12801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id            stable feature id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class         vegetation | water | built_up | bare_soil | road | building_candidate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confidence    0..100, derived from per-pixel evidence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source        source scene id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geometry      Polygon | LineString | Point  (EPSG:4326)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area_m2       polygons only, computed in scene-local UTM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length_m      lines only, computed in scene-local UTM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280160"/>
            <a:ext cx="4251960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blurRad="177800" dist="635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0" y="1444752"/>
            <a:ext cx="4160520" cy="5029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01010"/>
                </a:solidFill>
                <a:latin typeface="Helvetica Neue"/>
              </a:rPr>
              <a:t>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1947672"/>
            <a:ext cx="4160520" cy="1591056"/>
          </a:xfrm>
          <a:prstGeom prst="rect">
            <a:avLst/>
          </a:prstGeom>
          <a:noFill/>
        </p:spPr>
        <p:txBody>
          <a:bodyPr wrap="square" lIns="164592" rIns="164592" tIns="128016" bIns="12801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01010"/>
                </a:solidFill>
                <a:latin typeface="Helvetica Neue"/>
              </a:rPr>
              <a:t>&lt;scene&gt;.geojson   RFC 7946, no crs member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010"/>
                </a:solidFill>
                <a:latin typeface="Helvetica Neue"/>
              </a:rPr>
              <a:t>&lt;scene&gt;.gpkg      3 layers by geom type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010"/>
                </a:solidFill>
                <a:latin typeface="Helvetica Neue"/>
              </a:rPr>
              <a:t>summary.csv       per-scene per-class stats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3840480"/>
            <a:ext cx="4251960" cy="2560320"/>
          </a:xfrm>
          <a:prstGeom prst="roundRect">
            <a:avLst>
              <a:gd name="adj" fmla="val 6000"/>
            </a:avLst>
          </a:prstGeom>
          <a:solidFill>
            <a:srgbClr val="C8F23E"/>
          </a:solidFill>
          <a:ln w="9525">
            <a:solidFill>
              <a:srgbClr val="E5E5E5"/>
            </a:solidFill>
          </a:ln>
          <a:effectLst>
            <a:outerShdw blurRad="177800" dist="635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4005072"/>
            <a:ext cx="4160520" cy="5029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01010"/>
                </a:solidFill>
                <a:latin typeface="Helvetica Neue"/>
              </a:rPr>
              <a:t>CRS handling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4507992"/>
            <a:ext cx="4160520" cy="1728216"/>
          </a:xfrm>
          <a:prstGeom prst="rect">
            <a:avLst/>
          </a:prstGeom>
          <a:noFill/>
        </p:spPr>
        <p:txBody>
          <a:bodyPr wrap="square" lIns="164592" rIns="164592" tIns="128016" bIns="12801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01010"/>
                </a:solidFill>
                <a:latin typeface="Helvetica Neue"/>
              </a:rPr>
              <a:t>GeoJSON: EPSG:4326 (RFC 7946)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010"/>
                </a:solidFill>
                <a:latin typeface="Helvetica Neue"/>
              </a:rPr>
              <a:t>GeoPackage: same, declared in header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010"/>
                </a:solidFill>
                <a:latin typeface="Helvetica Neue"/>
              </a:rPr>
              <a:t>Areas / lengths: scene-local UTM zone auto-picked from longitude/latitude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Helvetica Neue"/>
              </a:rPr>
              <a:t>NURIS Prototype  -  HackNU '26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502920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1010"/>
                </a:solidFill>
                <a:latin typeface="Helvetica Neue"/>
              </a:rPr>
              <a:t>DEMO  -  ALMATY_10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86968"/>
            <a:ext cx="594360" cy="54864"/>
          </a:xfrm>
          <a:prstGeom prst="rect">
            <a:avLst/>
          </a:prstGeom>
          <a:solidFill>
            <a:srgbClr val="C8F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820095" y="41148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C8F23E"/>
                </a:solidFill>
                <a:latin typeface="Helvetica Neue"/>
              </a:rPr>
              <a:t>05 /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6858000" cy="52120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E5E5E5"/>
            </a:solidFill>
          </a:ln>
          <a:effectLst>
            <a:outerShdw blurRad="177800" dist="635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lmaty_10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583680" cy="4937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80960" y="1188720"/>
            <a:ext cx="4023360" cy="2468880"/>
          </a:xfrm>
          <a:prstGeom prst="roundRect">
            <a:avLst>
              <a:gd name="adj" fmla="val 6000"/>
            </a:avLst>
          </a:prstGeom>
          <a:solidFill>
            <a:srgbClr val="C8F23E"/>
          </a:solidFill>
          <a:ln w="9525">
            <a:solidFill>
              <a:srgbClr val="E5E5E5"/>
            </a:solidFill>
          </a:ln>
          <a:effectLst>
            <a:outerShdw blurRad="177800" dist="635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80" y="1353312"/>
            <a:ext cx="3931920" cy="5029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01010"/>
                </a:solidFill>
                <a:latin typeface="Helvetica Neue"/>
              </a:rPr>
              <a:t>922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80" y="1856232"/>
            <a:ext cx="3931920" cy="1636776"/>
          </a:xfrm>
          <a:prstGeom prst="rect">
            <a:avLst/>
          </a:prstGeom>
          <a:noFill/>
        </p:spPr>
        <p:txBody>
          <a:bodyPr wrap="square" lIns="164592" rIns="164592" tIns="128016" bIns="12801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AOI 0.143 km^2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6 thematic classes co-extracted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Source: Almaty_10.tif (RGB)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3840480"/>
            <a:ext cx="402336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blurRad="177800" dist="635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80" y="4005072"/>
            <a:ext cx="3931920" cy="5029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01010"/>
                </a:solidFill>
                <a:latin typeface="Helvetica Neue"/>
              </a:rPr>
              <a:t>Per-class 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80" y="4507992"/>
            <a:ext cx="3931920" cy="1728216"/>
          </a:xfrm>
          <a:prstGeom prst="rect">
            <a:avLst/>
          </a:prstGeom>
          <a:noFill/>
        </p:spPr>
        <p:txBody>
          <a:bodyPr wrap="square" lIns="164592" rIns="164592" tIns="128016" bIns="12801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01010"/>
                </a:solidFill>
                <a:latin typeface="Helvetica Neue"/>
              </a:rPr>
              <a:t>vegetation         217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010"/>
                </a:solidFill>
                <a:latin typeface="Helvetica Neue"/>
              </a:rPr>
              <a:t>bare_soil          209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010"/>
                </a:solidFill>
                <a:latin typeface="Helvetica Neue"/>
              </a:rPr>
              <a:t>road               187    /  2,986 m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010"/>
                </a:solidFill>
                <a:latin typeface="Helvetica Neue"/>
              </a:rPr>
              <a:t>built_up           141    /  4,821 m^2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010"/>
                </a:solidFill>
                <a:latin typeface="Helvetica Neue"/>
              </a:rPr>
              <a:t>building_cand.     112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010"/>
                </a:solidFill>
                <a:latin typeface="Helvetica Neue"/>
              </a:rPr>
              <a:t>water               56    /  3,708 m^2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Helvetica Neue"/>
              </a:rPr>
              <a:t>NURIS Prototype  -  HackNU '26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502920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1010"/>
                </a:solidFill>
                <a:latin typeface="Helvetica Neue"/>
              </a:rPr>
              <a:t>DEMO  -  ASTANA_7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86968"/>
            <a:ext cx="594360" cy="54864"/>
          </a:xfrm>
          <a:prstGeom prst="rect">
            <a:avLst/>
          </a:prstGeom>
          <a:solidFill>
            <a:srgbClr val="C8F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820095" y="41148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C8F23E"/>
                </a:solidFill>
                <a:latin typeface="Helvetica Neue"/>
              </a:rPr>
              <a:t>06 /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6858000" cy="52120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E5E5E5"/>
            </a:solidFill>
          </a:ln>
          <a:effectLst>
            <a:outerShdw blurRad="177800" dist="635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stana_7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583680" cy="4937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80960" y="1188720"/>
            <a:ext cx="4023360" cy="2468880"/>
          </a:xfrm>
          <a:prstGeom prst="roundRect">
            <a:avLst>
              <a:gd name="adj" fmla="val 6000"/>
            </a:avLst>
          </a:prstGeom>
          <a:solidFill>
            <a:srgbClr val="C8F23E"/>
          </a:solidFill>
          <a:ln w="9525">
            <a:solidFill>
              <a:srgbClr val="E5E5E5"/>
            </a:solidFill>
          </a:ln>
          <a:effectLst>
            <a:outerShdw blurRad="177800" dist="635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80" y="1353312"/>
            <a:ext cx="3931920" cy="5029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01010"/>
                </a:solidFill>
                <a:latin typeface="Helvetica Neue"/>
              </a:rPr>
              <a:t>1,010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80" y="1856232"/>
            <a:ext cx="3931920" cy="1636776"/>
          </a:xfrm>
          <a:prstGeom prst="rect">
            <a:avLst/>
          </a:prstGeom>
          <a:noFill/>
        </p:spPr>
        <p:txBody>
          <a:bodyPr wrap="square" lIns="164592" rIns="164592" tIns="128016" bIns="12801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AOI 0.305 km^2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Larger AOI than Almaty_10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Source: Astana_7.tif (RGB)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3840480"/>
            <a:ext cx="402336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blurRad="177800" dist="635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80" y="4005072"/>
            <a:ext cx="3931920" cy="5029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01010"/>
                </a:solidFill>
                <a:latin typeface="Helvetica Neue"/>
              </a:rPr>
              <a:t>Per-class 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80" y="4507992"/>
            <a:ext cx="3931920" cy="1728216"/>
          </a:xfrm>
          <a:prstGeom prst="rect">
            <a:avLst/>
          </a:prstGeom>
          <a:noFill/>
        </p:spPr>
        <p:txBody>
          <a:bodyPr wrap="square" lIns="164592" rIns="164592" tIns="128016" bIns="12801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01010"/>
                </a:solidFill>
                <a:latin typeface="Helvetica Neue"/>
              </a:rPr>
              <a:t>vegetation         234    /  54,643 m^2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010"/>
                </a:solidFill>
                <a:latin typeface="Helvetica Neue"/>
              </a:rPr>
              <a:t>road               224    /   4,101 m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010"/>
                </a:solidFill>
                <a:latin typeface="Helvetica Neue"/>
              </a:rPr>
              <a:t>bare_soil          199    /  40,167 m^2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010"/>
                </a:solidFill>
                <a:latin typeface="Helvetica Neue"/>
              </a:rPr>
              <a:t>built_up           193    /   7,743 m^2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010"/>
                </a:solidFill>
                <a:latin typeface="Helvetica Neue"/>
              </a:rPr>
              <a:t>building_cand.     135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01010"/>
                </a:solidFill>
                <a:latin typeface="Helvetica Neue"/>
              </a:rPr>
              <a:t>water               25    /   2,178 m^2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Helvetica Neue"/>
              </a:rPr>
              <a:t>NURIS Prototype  -  HackNU '26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502920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1010"/>
                </a:solidFill>
                <a:latin typeface="Helvetica Neue"/>
              </a:rPr>
              <a:t>AGGREGATE METRICS ACROSS BOTH DEMOS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86968"/>
            <a:ext cx="594360" cy="54864"/>
          </a:xfrm>
          <a:prstGeom prst="rect">
            <a:avLst/>
          </a:prstGeom>
          <a:solidFill>
            <a:srgbClr val="C8F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820095" y="41148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C8F23E"/>
                </a:solidFill>
                <a:latin typeface="Helvetica Neue"/>
              </a:rPr>
              <a:t>07 /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25013" cy="1554480"/>
          </a:xfrm>
          <a:prstGeom prst="roundRect">
            <a:avLst>
              <a:gd name="adj" fmla="val 10000"/>
            </a:avLst>
          </a:prstGeom>
          <a:solidFill>
            <a:srgbClr val="C8F23E"/>
          </a:solidFill>
          <a:ln w="9525">
            <a:solidFill>
              <a:srgbClr val="C8F23E"/>
            </a:solidFill>
          </a:ln>
          <a:effectLst>
            <a:outerShdw blurRad="152400" dist="508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36192"/>
            <a:ext cx="2442133" cy="777240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spAutoFit/>
          </a:bodyPr>
          <a:lstStyle/>
          <a:p>
            <a:pPr algn="l"/>
            <a:r>
              <a:rPr sz="3000" b="1">
                <a:solidFill>
                  <a:srgbClr val="101010"/>
                </a:solidFill>
                <a:latin typeface="Helvetica Neue"/>
              </a:rPr>
              <a:t>1,932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23160"/>
            <a:ext cx="2442133" cy="36576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01010"/>
                </a:solidFill>
                <a:latin typeface="Helvetica Neue"/>
              </a:rPr>
              <a:t>features extracted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6533" y="1371600"/>
            <a:ext cx="2625013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blurRad="152400" dist="508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973" y="1536192"/>
            <a:ext cx="2442133" cy="777240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spAutoFit/>
          </a:bodyPr>
          <a:lstStyle/>
          <a:p>
            <a:pPr algn="l"/>
            <a:r>
              <a:rPr sz="3000" b="1">
                <a:solidFill>
                  <a:srgbClr val="101010"/>
                </a:solidFill>
                <a:latin typeface="Helvetica Neue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973" y="2423160"/>
            <a:ext cx="2442133" cy="36576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01010"/>
                </a:solidFill>
                <a:latin typeface="Helvetica Neue"/>
              </a:rPr>
              <a:t>thematic classes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1371600"/>
            <a:ext cx="2625013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blurRad="152400" dist="508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1587" y="1536192"/>
            <a:ext cx="2442133" cy="777240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spAutoFit/>
          </a:bodyPr>
          <a:lstStyle/>
          <a:p>
            <a:pPr algn="l"/>
            <a:r>
              <a:rPr sz="3000" b="1">
                <a:solidFill>
                  <a:srgbClr val="101010"/>
                </a:solidFill>
                <a:latin typeface="Helvetica Neue"/>
              </a:rPr>
              <a:t>0.45 km^2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1587" y="2423160"/>
            <a:ext cx="2442133" cy="36576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01010"/>
                </a:solidFill>
                <a:latin typeface="Helvetica Neue"/>
              </a:rPr>
              <a:t>AOI covered (Almaty + Astana)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3761" y="1371600"/>
            <a:ext cx="2625013" cy="1554480"/>
          </a:xfrm>
          <a:prstGeom prst="roundRect">
            <a:avLst>
              <a:gd name="adj" fmla="val 10000"/>
            </a:avLst>
          </a:prstGeom>
          <a:solidFill>
            <a:srgbClr val="C8F23E"/>
          </a:solidFill>
          <a:ln w="9525">
            <a:solidFill>
              <a:srgbClr val="C8F23E"/>
            </a:solidFill>
          </a:ln>
          <a:effectLst>
            <a:outerShdw blurRad="152400" dist="508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55201" y="1536192"/>
            <a:ext cx="2442133" cy="777240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spAutoFit/>
          </a:bodyPr>
          <a:lstStyle/>
          <a:p>
            <a:pPr algn="l"/>
            <a:r>
              <a:rPr sz="3000" b="1">
                <a:solidFill>
                  <a:srgbClr val="101010"/>
                </a:solidFill>
                <a:latin typeface="Helvetica Neue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5201" y="2423160"/>
            <a:ext cx="2442133" cy="36576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1100" b="0">
                <a:solidFill>
                  <a:srgbClr val="101010"/>
                </a:solidFill>
                <a:latin typeface="Helvetica Neue"/>
              </a:rPr>
              <a:t>valid geometries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91840"/>
            <a:ext cx="54864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blurRad="177800" dist="635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4088" y="3456432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C8F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712464"/>
            <a:ext cx="5394960" cy="5029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01010"/>
                </a:solidFill>
                <a:latin typeface="Helvetica Neue"/>
              </a:rPr>
              <a:t>Length &amp; area totals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15384"/>
            <a:ext cx="5394960" cy="2020824"/>
          </a:xfrm>
          <a:prstGeom prst="rect">
            <a:avLst/>
          </a:prstGeom>
          <a:noFill/>
        </p:spPr>
        <p:txBody>
          <a:bodyPr wrap="square" lIns="164592" rIns="164592" tIns="128016" bIns="12801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101010"/>
                </a:solidFill>
                <a:latin typeface="Helvetica Neue"/>
              </a:rPr>
              <a:t>Total road length         7,087 m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01010"/>
                </a:solidFill>
                <a:latin typeface="Helvetica Neue"/>
              </a:rPr>
              <a:t>Total built-up area      12,565 m^2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01010"/>
                </a:solidFill>
                <a:latin typeface="Helvetica Neue"/>
              </a:rPr>
              <a:t>Total vegetation area    68,730 m^2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01010"/>
                </a:solidFill>
                <a:latin typeface="Helvetica Neue"/>
              </a:rPr>
              <a:t>Total bare-soil area     55,773 m^2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01010"/>
                </a:solidFill>
                <a:latin typeface="Helvetica Neue"/>
              </a:rPr>
              <a:t>Total water area          5,886 m^2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291840"/>
            <a:ext cx="5532120" cy="3108960"/>
          </a:xfrm>
          <a:prstGeom prst="roundRect">
            <a:avLst>
              <a:gd name="adj" fmla="val 6000"/>
            </a:avLst>
          </a:prstGeom>
          <a:solidFill>
            <a:srgbClr val="C8F23E"/>
          </a:solidFill>
          <a:ln w="9525">
            <a:solidFill>
              <a:srgbClr val="E5E5E5"/>
            </a:solidFill>
          </a:ln>
          <a:effectLst>
            <a:outerShdw blurRad="177800" dist="635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456432"/>
            <a:ext cx="5440680" cy="5029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01010"/>
                </a:solidFill>
                <a:latin typeface="Helvetica Neue"/>
              </a:rPr>
              <a:t>Confidence floor enforced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959352"/>
            <a:ext cx="5440680" cy="2276856"/>
          </a:xfrm>
          <a:prstGeom prst="rect">
            <a:avLst/>
          </a:prstGeom>
          <a:noFill/>
        </p:spPr>
        <p:txBody>
          <a:bodyPr wrap="square" lIns="164592" rIns="164592" tIns="128016" bIns="12801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101010"/>
                </a:solidFill>
                <a:latin typeface="Helvetica Neue"/>
              </a:rPr>
              <a:t>vegetation  &gt;= 55       water  &gt;= 60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01010"/>
                </a:solidFill>
                <a:latin typeface="Helvetica Neue"/>
              </a:rPr>
              <a:t>built_up    &gt;= 55       bare_soil  &gt;= 50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01010"/>
                </a:solidFill>
                <a:latin typeface="Helvetica Neue"/>
              </a:rPr>
              <a:t>road        &gt;= 55       building_candidate  &gt;= 55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01010"/>
                </a:solidFill>
                <a:latin typeface="Helvetica Neue"/>
              </a:rPr>
              <a:t>Below floor -&gt; rejected at merge stage.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Helvetica Neue"/>
              </a:rPr>
              <a:t>NURIS Prototype  -  HackNU '26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502920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1010"/>
                </a:solidFill>
                <a:latin typeface="Helvetica Neue"/>
              </a:rPr>
              <a:t>QUALITY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86968"/>
            <a:ext cx="594360" cy="54864"/>
          </a:xfrm>
          <a:prstGeom prst="rect">
            <a:avLst/>
          </a:prstGeom>
          <a:solidFill>
            <a:srgbClr val="C8F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820095" y="41148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C8F23E"/>
                </a:solidFill>
                <a:latin typeface="Helvetica Neue"/>
              </a:rPr>
              <a:t>08 /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blurRad="177800" dist="635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" y="1444752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C8F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5394960" cy="5029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2000" b="1">
                <a:solidFill>
                  <a:srgbClr val="101010"/>
                </a:solidFill>
                <a:latin typeface="Helvetica Neue"/>
              </a:rPr>
              <a:t>Geometry validity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03704"/>
            <a:ext cx="5394960" cy="1289304"/>
          </a:xfrm>
          <a:prstGeom prst="rect">
            <a:avLst/>
          </a:prstGeom>
          <a:noFill/>
        </p:spPr>
        <p:txBody>
          <a:bodyPr wrap="square" lIns="164592" rIns="164592" tIns="128016" bIns="12801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shapely.make_valid on every polygon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RHR winding via shapely.ops.orient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100% of exported features pass is_valid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80160"/>
            <a:ext cx="5532120" cy="2377440"/>
          </a:xfrm>
          <a:prstGeom prst="roundRect">
            <a:avLst>
              <a:gd name="adj" fmla="val 6000"/>
            </a:avLst>
          </a:prstGeom>
          <a:solidFill>
            <a:srgbClr val="C8F23E"/>
          </a:solidFill>
          <a:ln w="9525">
            <a:solidFill>
              <a:srgbClr val="E5E5E5"/>
            </a:solidFill>
          </a:ln>
          <a:effectLst>
            <a:outerShdw blurRad="177800" dist="635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444752"/>
            <a:ext cx="5440680" cy="5029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2000" b="1">
                <a:solidFill>
                  <a:srgbClr val="101010"/>
                </a:solidFill>
                <a:latin typeface="Helvetica Neue"/>
              </a:rPr>
              <a:t>Spec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47672"/>
            <a:ext cx="5440680" cy="1545336"/>
          </a:xfrm>
          <a:prstGeom prst="rect">
            <a:avLst/>
          </a:prstGeom>
          <a:noFill/>
        </p:spPr>
        <p:txBody>
          <a:bodyPr wrap="square" lIns="164592" rIns="164592" tIns="128016" bIns="12801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GeoJSON: RFC 7946 (no crs member, EPSG:4326)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Coordinates quantized to 7 decimals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GeoPackage: layered by geom 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40480"/>
            <a:ext cx="548640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blurRad="177800" dist="635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05072"/>
            <a:ext cx="5394960" cy="5029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2000" b="1">
                <a:solidFill>
                  <a:srgbClr val="101010"/>
                </a:solidFill>
                <a:latin typeface="Helvetica Neue"/>
              </a:rPr>
              <a:t>Spatial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07992"/>
            <a:ext cx="5394960" cy="1728216"/>
          </a:xfrm>
          <a:prstGeom prst="rect">
            <a:avLst/>
          </a:prstGeom>
          <a:noFill/>
        </p:spPr>
        <p:txBody>
          <a:bodyPr wrap="square" lIns="164592" rIns="164592" tIns="128016" bIns="12801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Output bounding box subset of source raster bounds.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Tile overlap dissolved via unary_union per class.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Metric calculations in scene-local UTM zone.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840480"/>
            <a:ext cx="553212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blurRad="177800" dist="635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4005072"/>
            <a:ext cx="5440680" cy="5029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2000" b="1">
                <a:solidFill>
                  <a:srgbClr val="101010"/>
                </a:solidFill>
                <a:latin typeface="Helvetica Neue"/>
              </a:rPr>
              <a:t>Sample-tile control (Almaty_10)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507992"/>
            <a:ext cx="5440680" cy="1728216"/>
          </a:xfrm>
          <a:prstGeom prst="rect">
            <a:avLst/>
          </a:prstGeom>
          <a:noFill/>
        </p:spPr>
        <p:txBody>
          <a:bodyPr wrap="square" lIns="164592" rIns="164592" tIns="128016" bIns="12801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vegetation       precision ~ 0.86   recall ~ 0.78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built_up         precision ~ 0.74   recall ~ 0.69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water            precision ~ 0.81   recall ~ 0.70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road centerline  IoU buffer-2m ~ 0.55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Helvetica Neue"/>
              </a:rPr>
              <a:t>NURIS Prototype  -  HackNU '26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502920"/>
          </a:xfrm>
          <a:prstGeom prst="rect">
            <a:avLst/>
          </a:prstGeom>
          <a:noFill/>
        </p:spPr>
        <p:txBody>
          <a:bodyPr wrap="square" lIns="109728" rIns="109728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1010"/>
                </a:solidFill>
                <a:latin typeface="Helvetica Neue"/>
              </a:rPr>
              <a:t>LIMITATIONS  &amp;  HOW TO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86968"/>
            <a:ext cx="594360" cy="54864"/>
          </a:xfrm>
          <a:prstGeom prst="rect">
            <a:avLst/>
          </a:prstGeom>
          <a:solidFill>
            <a:srgbClr val="C8F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820095" y="41148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C8F23E"/>
                </a:solidFill>
                <a:latin typeface="Helvetica Neue"/>
              </a:rPr>
              <a:t>09 /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54864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blurRad="177800" dist="635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5394960" cy="5029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2000" b="1">
                <a:solidFill>
                  <a:srgbClr val="101010"/>
                </a:solidFill>
                <a:latin typeface="Helvetica Neue"/>
              </a:rPr>
              <a:t>Known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47672"/>
            <a:ext cx="5394960" cy="4288536"/>
          </a:xfrm>
          <a:prstGeom prst="rect">
            <a:avLst/>
          </a:prstGeom>
          <a:noFill/>
        </p:spPr>
        <p:txBody>
          <a:bodyPr wrap="square" lIns="164592" rIns="164592" tIns="128016" bIns="12801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- RGB only; no NIR -&gt; harder to separate water from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  shadow under heavy cloud or dense canopy.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- Building candidates inherit polygon compactness;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  attached buildings may merge.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- Roads come from a built-up skeleton heuristic;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  not a learned road detector.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- Confidences are rule-based proxies, not calibrated.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80160"/>
            <a:ext cx="5532120" cy="2560320"/>
          </a:xfrm>
          <a:prstGeom prst="roundRect">
            <a:avLst>
              <a:gd name="adj" fmla="val 6000"/>
            </a:avLst>
          </a:prstGeom>
          <a:solidFill>
            <a:srgbClr val="C8F23E"/>
          </a:solidFill>
          <a:ln w="9525">
            <a:solidFill>
              <a:srgbClr val="E5E5E5"/>
            </a:solidFill>
          </a:ln>
          <a:effectLst>
            <a:outerShdw blurRad="177800" dist="635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444752"/>
            <a:ext cx="5440680" cy="5029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2000" b="1">
                <a:solidFill>
                  <a:srgbClr val="101010"/>
                </a:solidFill>
                <a:latin typeface="Helvetica Neue"/>
              </a:rPr>
              <a:t>Reproduce in 2 commands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47672"/>
            <a:ext cx="5440680" cy="1728216"/>
          </a:xfrm>
          <a:prstGeom prst="rect">
            <a:avLst/>
          </a:prstGeom>
          <a:noFill/>
        </p:spPr>
        <p:txBody>
          <a:bodyPr wrap="square" lIns="164592" rIns="164592" tIns="128016" bIns="12801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pip install -r requirements.txt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python run.py --inputs Almaty/ Astana/  --out outputs/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40480"/>
            <a:ext cx="553212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>
            <a:outerShdw blurRad="177800" dist="63500" dir="27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3368" y="4005072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C8F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261104"/>
            <a:ext cx="5440680" cy="5029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2000" b="1">
                <a:solidFill>
                  <a:srgbClr val="101010"/>
                </a:solidFill>
                <a:latin typeface="Helvetica Neue"/>
              </a:rPr>
              <a:t>Repo layout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764024"/>
            <a:ext cx="5440680" cy="1472184"/>
          </a:xfrm>
          <a:prstGeom prst="rect">
            <a:avLst/>
          </a:prstGeom>
          <a:noFill/>
        </p:spPr>
        <p:txBody>
          <a:bodyPr wrap="square" lIns="164592" rIns="164592" tIns="128016" bIns="12801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src/nuris/   tiling, classify, vectorize,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             postprocess, export, stats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run.py       CLI entry-point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visualize.py overlay PNG renderer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01010"/>
                </a:solidFill>
                <a:latin typeface="Helvetica Neue"/>
              </a:rPr>
              <a:t>outputs/     .geojson  .gpkg  .png  summary.csv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109728" rIns="109728" tIns="73152" bIns="73152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Helvetica Neue"/>
              </a:rPr>
              <a:t>NURIS Prototype  -  HackNU '26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